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fr-M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1" d="100"/>
          <a:sy n="71" d="100"/>
        </p:scale>
        <p:origin x="672"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1ABDF8-18EE-4DD7-9D85-B149C77F39C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G"/>
          </a:p>
        </p:txBody>
      </p:sp>
      <p:sp>
        <p:nvSpPr>
          <p:cNvPr id="3" name="Sous-titre 2">
            <a:extLst>
              <a:ext uri="{FF2B5EF4-FFF2-40B4-BE49-F238E27FC236}">
                <a16:creationId xmlns:a16="http://schemas.microsoft.com/office/drawing/2014/main" id="{19AD483D-9A6D-4802-9F7E-212E8DD39E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MG"/>
          </a:p>
        </p:txBody>
      </p:sp>
      <p:sp>
        <p:nvSpPr>
          <p:cNvPr id="4" name="Espace réservé de la date 3">
            <a:extLst>
              <a:ext uri="{FF2B5EF4-FFF2-40B4-BE49-F238E27FC236}">
                <a16:creationId xmlns:a16="http://schemas.microsoft.com/office/drawing/2014/main" id="{BA9A6CE4-CCC7-45A1-BC53-A5119837B791}"/>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5" name="Espace réservé du pied de page 4">
            <a:extLst>
              <a:ext uri="{FF2B5EF4-FFF2-40B4-BE49-F238E27FC236}">
                <a16:creationId xmlns:a16="http://schemas.microsoft.com/office/drawing/2014/main" id="{FF66947A-D310-4315-AD3E-06D8B55DA68C}"/>
              </a:ext>
            </a:extLst>
          </p:cNvPr>
          <p:cNvSpPr>
            <a:spLocks noGrp="1"/>
          </p:cNvSpPr>
          <p:nvPr>
            <p:ph type="ftr" sz="quarter" idx="11"/>
          </p:nvPr>
        </p:nvSpPr>
        <p:spPr/>
        <p:txBody>
          <a:bodyPr/>
          <a:lstStyle/>
          <a:p>
            <a:endParaRPr lang="fr-MG"/>
          </a:p>
        </p:txBody>
      </p:sp>
      <p:sp>
        <p:nvSpPr>
          <p:cNvPr id="6" name="Espace réservé du numéro de diapositive 5">
            <a:extLst>
              <a:ext uri="{FF2B5EF4-FFF2-40B4-BE49-F238E27FC236}">
                <a16:creationId xmlns:a16="http://schemas.microsoft.com/office/drawing/2014/main" id="{27A91332-1665-4252-890B-A37CE77B3B64}"/>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1428986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5BCE29-3CFB-4E15-BE7B-9BE22D97E255}"/>
              </a:ext>
            </a:extLst>
          </p:cNvPr>
          <p:cNvSpPr>
            <a:spLocks noGrp="1"/>
          </p:cNvSpPr>
          <p:nvPr>
            <p:ph type="title"/>
          </p:nvPr>
        </p:nvSpPr>
        <p:spPr/>
        <p:txBody>
          <a:bodyPr/>
          <a:lstStyle/>
          <a:p>
            <a:r>
              <a:rPr lang="fr-FR"/>
              <a:t>Modifiez le style du titre</a:t>
            </a:r>
            <a:endParaRPr lang="fr-MG"/>
          </a:p>
        </p:txBody>
      </p:sp>
      <p:sp>
        <p:nvSpPr>
          <p:cNvPr id="3" name="Espace réservé du contenu 2">
            <a:extLst>
              <a:ext uri="{FF2B5EF4-FFF2-40B4-BE49-F238E27FC236}">
                <a16:creationId xmlns:a16="http://schemas.microsoft.com/office/drawing/2014/main" id="{D749B362-8F15-4729-9060-FB056A03967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4" name="Espace réservé de la date 3">
            <a:extLst>
              <a:ext uri="{FF2B5EF4-FFF2-40B4-BE49-F238E27FC236}">
                <a16:creationId xmlns:a16="http://schemas.microsoft.com/office/drawing/2014/main" id="{F39FB51B-E911-432D-B047-D8DDD5BD307F}"/>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5" name="Espace réservé du pied de page 4">
            <a:extLst>
              <a:ext uri="{FF2B5EF4-FFF2-40B4-BE49-F238E27FC236}">
                <a16:creationId xmlns:a16="http://schemas.microsoft.com/office/drawing/2014/main" id="{7773246F-F2C5-49E7-A515-0BF97C87DCA1}"/>
              </a:ext>
            </a:extLst>
          </p:cNvPr>
          <p:cNvSpPr>
            <a:spLocks noGrp="1"/>
          </p:cNvSpPr>
          <p:nvPr>
            <p:ph type="ftr" sz="quarter" idx="11"/>
          </p:nvPr>
        </p:nvSpPr>
        <p:spPr/>
        <p:txBody>
          <a:bodyPr/>
          <a:lstStyle/>
          <a:p>
            <a:endParaRPr lang="fr-MG"/>
          </a:p>
        </p:txBody>
      </p:sp>
      <p:sp>
        <p:nvSpPr>
          <p:cNvPr id="6" name="Espace réservé du numéro de diapositive 5">
            <a:extLst>
              <a:ext uri="{FF2B5EF4-FFF2-40B4-BE49-F238E27FC236}">
                <a16:creationId xmlns:a16="http://schemas.microsoft.com/office/drawing/2014/main" id="{0CD35B52-9BA8-49BA-A90B-742A50E7AAAD}"/>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3427407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C4A74A-3703-40BB-A708-7CBE3CA2ACE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G"/>
          </a:p>
        </p:txBody>
      </p:sp>
      <p:sp>
        <p:nvSpPr>
          <p:cNvPr id="3" name="Espace réservé du texte 2">
            <a:extLst>
              <a:ext uri="{FF2B5EF4-FFF2-40B4-BE49-F238E27FC236}">
                <a16:creationId xmlns:a16="http://schemas.microsoft.com/office/drawing/2014/main" id="{34E8633F-F061-4C14-B55A-B5A985AD48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42779B-722C-456B-8487-3E309089B5A0}"/>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5" name="Espace réservé du pied de page 4">
            <a:extLst>
              <a:ext uri="{FF2B5EF4-FFF2-40B4-BE49-F238E27FC236}">
                <a16:creationId xmlns:a16="http://schemas.microsoft.com/office/drawing/2014/main" id="{7DF25C1E-9B85-45A6-AC72-82D5208CBE31}"/>
              </a:ext>
            </a:extLst>
          </p:cNvPr>
          <p:cNvSpPr>
            <a:spLocks noGrp="1"/>
          </p:cNvSpPr>
          <p:nvPr>
            <p:ph type="ftr" sz="quarter" idx="11"/>
          </p:nvPr>
        </p:nvSpPr>
        <p:spPr/>
        <p:txBody>
          <a:bodyPr/>
          <a:lstStyle/>
          <a:p>
            <a:endParaRPr lang="fr-MG"/>
          </a:p>
        </p:txBody>
      </p:sp>
      <p:sp>
        <p:nvSpPr>
          <p:cNvPr id="6" name="Espace réservé du numéro de diapositive 5">
            <a:extLst>
              <a:ext uri="{FF2B5EF4-FFF2-40B4-BE49-F238E27FC236}">
                <a16:creationId xmlns:a16="http://schemas.microsoft.com/office/drawing/2014/main" id="{D3C36FC5-7F90-4A57-8F62-8E7E3E071FAF}"/>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3123190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A54CDB-D898-4D66-A160-1D94FEF0B2B7}"/>
              </a:ext>
            </a:extLst>
          </p:cNvPr>
          <p:cNvSpPr>
            <a:spLocks noGrp="1"/>
          </p:cNvSpPr>
          <p:nvPr>
            <p:ph type="title"/>
          </p:nvPr>
        </p:nvSpPr>
        <p:spPr/>
        <p:txBody>
          <a:bodyPr/>
          <a:lstStyle/>
          <a:p>
            <a:r>
              <a:rPr lang="fr-FR"/>
              <a:t>Modifiez le style du titre</a:t>
            </a:r>
            <a:endParaRPr lang="fr-MG"/>
          </a:p>
        </p:txBody>
      </p:sp>
      <p:sp>
        <p:nvSpPr>
          <p:cNvPr id="3" name="Espace réservé du contenu 2">
            <a:extLst>
              <a:ext uri="{FF2B5EF4-FFF2-40B4-BE49-F238E27FC236}">
                <a16:creationId xmlns:a16="http://schemas.microsoft.com/office/drawing/2014/main" id="{FCA82E81-2823-433E-9900-3CBF859E7DC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4" name="Espace réservé du contenu 3">
            <a:extLst>
              <a:ext uri="{FF2B5EF4-FFF2-40B4-BE49-F238E27FC236}">
                <a16:creationId xmlns:a16="http://schemas.microsoft.com/office/drawing/2014/main" id="{CA3984EF-4D76-4252-8CEF-4FA4E47F538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5" name="Espace réservé de la date 4">
            <a:extLst>
              <a:ext uri="{FF2B5EF4-FFF2-40B4-BE49-F238E27FC236}">
                <a16:creationId xmlns:a16="http://schemas.microsoft.com/office/drawing/2014/main" id="{B38942F7-DB1E-4554-9854-25141DBDCEFB}"/>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6" name="Espace réservé du pied de page 5">
            <a:extLst>
              <a:ext uri="{FF2B5EF4-FFF2-40B4-BE49-F238E27FC236}">
                <a16:creationId xmlns:a16="http://schemas.microsoft.com/office/drawing/2014/main" id="{C1448CC5-F361-447D-BCAC-A2CBCD4B1D6F}"/>
              </a:ext>
            </a:extLst>
          </p:cNvPr>
          <p:cNvSpPr>
            <a:spLocks noGrp="1"/>
          </p:cNvSpPr>
          <p:nvPr>
            <p:ph type="ftr" sz="quarter" idx="11"/>
          </p:nvPr>
        </p:nvSpPr>
        <p:spPr/>
        <p:txBody>
          <a:bodyPr/>
          <a:lstStyle/>
          <a:p>
            <a:endParaRPr lang="fr-MG"/>
          </a:p>
        </p:txBody>
      </p:sp>
      <p:sp>
        <p:nvSpPr>
          <p:cNvPr id="7" name="Espace réservé du numéro de diapositive 6">
            <a:extLst>
              <a:ext uri="{FF2B5EF4-FFF2-40B4-BE49-F238E27FC236}">
                <a16:creationId xmlns:a16="http://schemas.microsoft.com/office/drawing/2014/main" id="{FAD78440-3BA0-4C11-8E46-694AA11C24D7}"/>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1283600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CD2FD0-66C9-4D91-ADE2-975A95CFBCD8}"/>
              </a:ext>
            </a:extLst>
          </p:cNvPr>
          <p:cNvSpPr>
            <a:spLocks noGrp="1"/>
          </p:cNvSpPr>
          <p:nvPr>
            <p:ph type="title"/>
          </p:nvPr>
        </p:nvSpPr>
        <p:spPr>
          <a:xfrm>
            <a:off x="839788" y="365125"/>
            <a:ext cx="10515600" cy="1325563"/>
          </a:xfrm>
        </p:spPr>
        <p:txBody>
          <a:bodyPr/>
          <a:lstStyle/>
          <a:p>
            <a:r>
              <a:rPr lang="fr-FR"/>
              <a:t>Modifiez le style du titre</a:t>
            </a:r>
            <a:endParaRPr lang="fr-MG"/>
          </a:p>
        </p:txBody>
      </p:sp>
      <p:sp>
        <p:nvSpPr>
          <p:cNvPr id="3" name="Espace réservé du texte 2">
            <a:extLst>
              <a:ext uri="{FF2B5EF4-FFF2-40B4-BE49-F238E27FC236}">
                <a16:creationId xmlns:a16="http://schemas.microsoft.com/office/drawing/2014/main" id="{F0A3363E-38E9-4618-A657-F4C78FFCA8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8A3C82F-F835-48CB-AE2F-70E3C5416AC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5" name="Espace réservé du texte 4">
            <a:extLst>
              <a:ext uri="{FF2B5EF4-FFF2-40B4-BE49-F238E27FC236}">
                <a16:creationId xmlns:a16="http://schemas.microsoft.com/office/drawing/2014/main" id="{1801F5DE-1DD9-46DE-9F6B-D25EFD346F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78D3E86-8E60-4EF7-BC70-9376F94418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7" name="Espace réservé de la date 6">
            <a:extLst>
              <a:ext uri="{FF2B5EF4-FFF2-40B4-BE49-F238E27FC236}">
                <a16:creationId xmlns:a16="http://schemas.microsoft.com/office/drawing/2014/main" id="{192419E0-D8D9-44DD-931A-184501DCC186}"/>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8" name="Espace réservé du pied de page 7">
            <a:extLst>
              <a:ext uri="{FF2B5EF4-FFF2-40B4-BE49-F238E27FC236}">
                <a16:creationId xmlns:a16="http://schemas.microsoft.com/office/drawing/2014/main" id="{C33F07A7-987A-4F9B-A8D3-94888D5D233B}"/>
              </a:ext>
            </a:extLst>
          </p:cNvPr>
          <p:cNvSpPr>
            <a:spLocks noGrp="1"/>
          </p:cNvSpPr>
          <p:nvPr>
            <p:ph type="ftr" sz="quarter" idx="11"/>
          </p:nvPr>
        </p:nvSpPr>
        <p:spPr/>
        <p:txBody>
          <a:bodyPr/>
          <a:lstStyle/>
          <a:p>
            <a:endParaRPr lang="fr-MG"/>
          </a:p>
        </p:txBody>
      </p:sp>
      <p:sp>
        <p:nvSpPr>
          <p:cNvPr id="9" name="Espace réservé du numéro de diapositive 8">
            <a:extLst>
              <a:ext uri="{FF2B5EF4-FFF2-40B4-BE49-F238E27FC236}">
                <a16:creationId xmlns:a16="http://schemas.microsoft.com/office/drawing/2014/main" id="{9655014A-6552-465E-869F-996E5FD1A69E}"/>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3249441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228DFB-4926-489B-8CDC-0F7D69A91119}"/>
              </a:ext>
            </a:extLst>
          </p:cNvPr>
          <p:cNvSpPr>
            <a:spLocks noGrp="1"/>
          </p:cNvSpPr>
          <p:nvPr>
            <p:ph type="title"/>
          </p:nvPr>
        </p:nvSpPr>
        <p:spPr/>
        <p:txBody>
          <a:bodyPr/>
          <a:lstStyle/>
          <a:p>
            <a:r>
              <a:rPr lang="fr-FR"/>
              <a:t>Modifiez le style du titre</a:t>
            </a:r>
            <a:endParaRPr lang="fr-MG"/>
          </a:p>
        </p:txBody>
      </p:sp>
      <p:sp>
        <p:nvSpPr>
          <p:cNvPr id="3" name="Espace réservé de la date 2">
            <a:extLst>
              <a:ext uri="{FF2B5EF4-FFF2-40B4-BE49-F238E27FC236}">
                <a16:creationId xmlns:a16="http://schemas.microsoft.com/office/drawing/2014/main" id="{39BE2BDF-2ECD-4843-8AA7-10A988BBA4DD}"/>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4" name="Espace réservé du pied de page 3">
            <a:extLst>
              <a:ext uri="{FF2B5EF4-FFF2-40B4-BE49-F238E27FC236}">
                <a16:creationId xmlns:a16="http://schemas.microsoft.com/office/drawing/2014/main" id="{81C81407-9796-4432-9F79-E7FDF6511AF3}"/>
              </a:ext>
            </a:extLst>
          </p:cNvPr>
          <p:cNvSpPr>
            <a:spLocks noGrp="1"/>
          </p:cNvSpPr>
          <p:nvPr>
            <p:ph type="ftr" sz="quarter" idx="11"/>
          </p:nvPr>
        </p:nvSpPr>
        <p:spPr/>
        <p:txBody>
          <a:bodyPr/>
          <a:lstStyle/>
          <a:p>
            <a:endParaRPr lang="fr-MG"/>
          </a:p>
        </p:txBody>
      </p:sp>
      <p:sp>
        <p:nvSpPr>
          <p:cNvPr id="5" name="Espace réservé du numéro de diapositive 4">
            <a:extLst>
              <a:ext uri="{FF2B5EF4-FFF2-40B4-BE49-F238E27FC236}">
                <a16:creationId xmlns:a16="http://schemas.microsoft.com/office/drawing/2014/main" id="{392E70C2-299E-4B74-AD02-F8B43BAFA906}"/>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3466806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A429B20-B5D4-4866-90E8-8B36F56D9E2A}"/>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3" name="Espace réservé du pied de page 2">
            <a:extLst>
              <a:ext uri="{FF2B5EF4-FFF2-40B4-BE49-F238E27FC236}">
                <a16:creationId xmlns:a16="http://schemas.microsoft.com/office/drawing/2014/main" id="{110946C2-C324-4F74-9259-9BD6282B130A}"/>
              </a:ext>
            </a:extLst>
          </p:cNvPr>
          <p:cNvSpPr>
            <a:spLocks noGrp="1"/>
          </p:cNvSpPr>
          <p:nvPr>
            <p:ph type="ftr" sz="quarter" idx="11"/>
          </p:nvPr>
        </p:nvSpPr>
        <p:spPr/>
        <p:txBody>
          <a:bodyPr/>
          <a:lstStyle/>
          <a:p>
            <a:endParaRPr lang="fr-MG"/>
          </a:p>
        </p:txBody>
      </p:sp>
      <p:sp>
        <p:nvSpPr>
          <p:cNvPr id="4" name="Espace réservé du numéro de diapositive 3">
            <a:extLst>
              <a:ext uri="{FF2B5EF4-FFF2-40B4-BE49-F238E27FC236}">
                <a16:creationId xmlns:a16="http://schemas.microsoft.com/office/drawing/2014/main" id="{D8F4A542-399E-4C80-93A5-128B6BC28E14}"/>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2629939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9B69B7-D6E9-4E96-A613-2FC4758986B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G"/>
          </a:p>
        </p:txBody>
      </p:sp>
      <p:sp>
        <p:nvSpPr>
          <p:cNvPr id="3" name="Espace réservé du contenu 2">
            <a:extLst>
              <a:ext uri="{FF2B5EF4-FFF2-40B4-BE49-F238E27FC236}">
                <a16:creationId xmlns:a16="http://schemas.microsoft.com/office/drawing/2014/main" id="{1D354AAF-4B2D-4FAF-A7F3-2E2A0DC020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4" name="Espace réservé du texte 3">
            <a:extLst>
              <a:ext uri="{FF2B5EF4-FFF2-40B4-BE49-F238E27FC236}">
                <a16:creationId xmlns:a16="http://schemas.microsoft.com/office/drawing/2014/main" id="{B485D8F0-0759-402E-81BC-67FC3C340C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E8B4685-980A-4455-AE3D-867888AFA400}"/>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6" name="Espace réservé du pied de page 5">
            <a:extLst>
              <a:ext uri="{FF2B5EF4-FFF2-40B4-BE49-F238E27FC236}">
                <a16:creationId xmlns:a16="http://schemas.microsoft.com/office/drawing/2014/main" id="{ED0D032D-8C9E-4AA1-B6AE-B8C78033B463}"/>
              </a:ext>
            </a:extLst>
          </p:cNvPr>
          <p:cNvSpPr>
            <a:spLocks noGrp="1"/>
          </p:cNvSpPr>
          <p:nvPr>
            <p:ph type="ftr" sz="quarter" idx="11"/>
          </p:nvPr>
        </p:nvSpPr>
        <p:spPr/>
        <p:txBody>
          <a:bodyPr/>
          <a:lstStyle/>
          <a:p>
            <a:endParaRPr lang="fr-MG"/>
          </a:p>
        </p:txBody>
      </p:sp>
      <p:sp>
        <p:nvSpPr>
          <p:cNvPr id="7" name="Espace réservé du numéro de diapositive 6">
            <a:extLst>
              <a:ext uri="{FF2B5EF4-FFF2-40B4-BE49-F238E27FC236}">
                <a16:creationId xmlns:a16="http://schemas.microsoft.com/office/drawing/2014/main" id="{DE03B7CD-2262-4A95-81E2-A27B50611357}"/>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362301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5716DC-D072-424E-BA47-2D6B72A777E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G"/>
          </a:p>
        </p:txBody>
      </p:sp>
      <p:sp>
        <p:nvSpPr>
          <p:cNvPr id="3" name="Espace réservé pour une image  2">
            <a:extLst>
              <a:ext uri="{FF2B5EF4-FFF2-40B4-BE49-F238E27FC236}">
                <a16:creationId xmlns:a16="http://schemas.microsoft.com/office/drawing/2014/main" id="{598FEF78-3A7A-4E11-829A-EB62D67C87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MG"/>
          </a:p>
        </p:txBody>
      </p:sp>
      <p:sp>
        <p:nvSpPr>
          <p:cNvPr id="4" name="Espace réservé du texte 3">
            <a:extLst>
              <a:ext uri="{FF2B5EF4-FFF2-40B4-BE49-F238E27FC236}">
                <a16:creationId xmlns:a16="http://schemas.microsoft.com/office/drawing/2014/main" id="{DEC0E77F-3959-46A7-AF6B-E7529E697B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1E8B15E-F978-4C5D-ACE2-D9CD0DCE3A03}"/>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6" name="Espace réservé du pied de page 5">
            <a:extLst>
              <a:ext uri="{FF2B5EF4-FFF2-40B4-BE49-F238E27FC236}">
                <a16:creationId xmlns:a16="http://schemas.microsoft.com/office/drawing/2014/main" id="{71A3F917-7E6C-4545-BF5D-5629DA85AFE9}"/>
              </a:ext>
            </a:extLst>
          </p:cNvPr>
          <p:cNvSpPr>
            <a:spLocks noGrp="1"/>
          </p:cNvSpPr>
          <p:nvPr>
            <p:ph type="ftr" sz="quarter" idx="11"/>
          </p:nvPr>
        </p:nvSpPr>
        <p:spPr/>
        <p:txBody>
          <a:bodyPr/>
          <a:lstStyle/>
          <a:p>
            <a:endParaRPr lang="fr-MG"/>
          </a:p>
        </p:txBody>
      </p:sp>
      <p:sp>
        <p:nvSpPr>
          <p:cNvPr id="7" name="Espace réservé du numéro de diapositive 6">
            <a:extLst>
              <a:ext uri="{FF2B5EF4-FFF2-40B4-BE49-F238E27FC236}">
                <a16:creationId xmlns:a16="http://schemas.microsoft.com/office/drawing/2014/main" id="{7B3331BE-6D18-48F4-9808-F6C08D539D89}"/>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228073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7BC3B0-93E9-4F7E-9F94-3EA09C94E4E6}"/>
              </a:ext>
            </a:extLst>
          </p:cNvPr>
          <p:cNvSpPr>
            <a:spLocks noGrp="1"/>
          </p:cNvSpPr>
          <p:nvPr>
            <p:ph type="title"/>
          </p:nvPr>
        </p:nvSpPr>
        <p:spPr/>
        <p:txBody>
          <a:bodyPr/>
          <a:lstStyle/>
          <a:p>
            <a:r>
              <a:rPr lang="fr-FR"/>
              <a:t>Modifiez le style du titre</a:t>
            </a:r>
            <a:endParaRPr lang="fr-MG"/>
          </a:p>
        </p:txBody>
      </p:sp>
      <p:sp>
        <p:nvSpPr>
          <p:cNvPr id="3" name="Espace réservé du texte vertical 2">
            <a:extLst>
              <a:ext uri="{FF2B5EF4-FFF2-40B4-BE49-F238E27FC236}">
                <a16:creationId xmlns:a16="http://schemas.microsoft.com/office/drawing/2014/main" id="{BF3DF309-F0F0-4F25-A427-E8FB9DBC46A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4" name="Espace réservé de la date 3">
            <a:extLst>
              <a:ext uri="{FF2B5EF4-FFF2-40B4-BE49-F238E27FC236}">
                <a16:creationId xmlns:a16="http://schemas.microsoft.com/office/drawing/2014/main" id="{E86C7FE3-4477-4B0C-9556-B09C3EA8E104}"/>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5" name="Espace réservé du pied de page 4">
            <a:extLst>
              <a:ext uri="{FF2B5EF4-FFF2-40B4-BE49-F238E27FC236}">
                <a16:creationId xmlns:a16="http://schemas.microsoft.com/office/drawing/2014/main" id="{570DB374-E23E-4F84-97CA-0B57543FB5AB}"/>
              </a:ext>
            </a:extLst>
          </p:cNvPr>
          <p:cNvSpPr>
            <a:spLocks noGrp="1"/>
          </p:cNvSpPr>
          <p:nvPr>
            <p:ph type="ftr" sz="quarter" idx="11"/>
          </p:nvPr>
        </p:nvSpPr>
        <p:spPr/>
        <p:txBody>
          <a:bodyPr/>
          <a:lstStyle/>
          <a:p>
            <a:endParaRPr lang="fr-MG"/>
          </a:p>
        </p:txBody>
      </p:sp>
      <p:sp>
        <p:nvSpPr>
          <p:cNvPr id="6" name="Espace réservé du numéro de diapositive 5">
            <a:extLst>
              <a:ext uri="{FF2B5EF4-FFF2-40B4-BE49-F238E27FC236}">
                <a16:creationId xmlns:a16="http://schemas.microsoft.com/office/drawing/2014/main" id="{0122BEFF-0318-4A9F-9A79-3A49932D6810}"/>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89686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8EF4E93-8E1A-435B-8D9E-F6DDF1883AEA}"/>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MG"/>
          </a:p>
        </p:txBody>
      </p:sp>
      <p:sp>
        <p:nvSpPr>
          <p:cNvPr id="3" name="Espace réservé du texte vertical 2">
            <a:extLst>
              <a:ext uri="{FF2B5EF4-FFF2-40B4-BE49-F238E27FC236}">
                <a16:creationId xmlns:a16="http://schemas.microsoft.com/office/drawing/2014/main" id="{B05416D3-E48D-469F-9F82-928935B538D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4" name="Espace réservé de la date 3">
            <a:extLst>
              <a:ext uri="{FF2B5EF4-FFF2-40B4-BE49-F238E27FC236}">
                <a16:creationId xmlns:a16="http://schemas.microsoft.com/office/drawing/2014/main" id="{88A34492-867E-4F32-BBE2-0D15DC219698}"/>
              </a:ext>
            </a:extLst>
          </p:cNvPr>
          <p:cNvSpPr>
            <a:spLocks noGrp="1"/>
          </p:cNvSpPr>
          <p:nvPr>
            <p:ph type="dt" sz="half" idx="10"/>
          </p:nvPr>
        </p:nvSpPr>
        <p:spPr/>
        <p:txBody>
          <a:bodyPr/>
          <a:lstStyle/>
          <a:p>
            <a:fld id="{E7DF60E8-FC04-4C13-B3C2-17ED68396B78}" type="datetimeFigureOut">
              <a:rPr lang="fr-MG" smtClean="0"/>
              <a:t>18/02/2024</a:t>
            </a:fld>
            <a:endParaRPr lang="fr-MG"/>
          </a:p>
        </p:txBody>
      </p:sp>
      <p:sp>
        <p:nvSpPr>
          <p:cNvPr id="5" name="Espace réservé du pied de page 4">
            <a:extLst>
              <a:ext uri="{FF2B5EF4-FFF2-40B4-BE49-F238E27FC236}">
                <a16:creationId xmlns:a16="http://schemas.microsoft.com/office/drawing/2014/main" id="{2FA7A18A-D7F9-4775-AEFB-A832B3ADE234}"/>
              </a:ext>
            </a:extLst>
          </p:cNvPr>
          <p:cNvSpPr>
            <a:spLocks noGrp="1"/>
          </p:cNvSpPr>
          <p:nvPr>
            <p:ph type="ftr" sz="quarter" idx="11"/>
          </p:nvPr>
        </p:nvSpPr>
        <p:spPr/>
        <p:txBody>
          <a:bodyPr/>
          <a:lstStyle/>
          <a:p>
            <a:endParaRPr lang="fr-MG"/>
          </a:p>
        </p:txBody>
      </p:sp>
      <p:sp>
        <p:nvSpPr>
          <p:cNvPr id="6" name="Espace réservé du numéro de diapositive 5">
            <a:extLst>
              <a:ext uri="{FF2B5EF4-FFF2-40B4-BE49-F238E27FC236}">
                <a16:creationId xmlns:a16="http://schemas.microsoft.com/office/drawing/2014/main" id="{F9545629-DC2A-4E7F-A8FB-C16EBC70F5A2}"/>
              </a:ext>
            </a:extLst>
          </p:cNvPr>
          <p:cNvSpPr>
            <a:spLocks noGrp="1"/>
          </p:cNvSpPr>
          <p:nvPr>
            <p:ph type="sldNum" sz="quarter" idx="12"/>
          </p:nvPr>
        </p:nvSpPr>
        <p:spPr/>
        <p:txBody>
          <a:bodyPr/>
          <a:lstStyle/>
          <a:p>
            <a:fld id="{400FC8EC-6926-49E4-9C95-3F0BD34A6DDB}" type="slidenum">
              <a:rPr lang="fr-MG" smtClean="0"/>
              <a:t>‹N°›</a:t>
            </a:fld>
            <a:endParaRPr lang="fr-MG"/>
          </a:p>
        </p:txBody>
      </p:sp>
    </p:spTree>
    <p:extLst>
      <p:ext uri="{BB962C8B-B14F-4D97-AF65-F5344CB8AC3E}">
        <p14:creationId xmlns:p14="http://schemas.microsoft.com/office/powerpoint/2010/main" val="3641126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484E00B-AF26-4B83-B5BB-D02456AE49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MG"/>
          </a:p>
        </p:txBody>
      </p:sp>
      <p:sp>
        <p:nvSpPr>
          <p:cNvPr id="3" name="Espace réservé du texte 2">
            <a:extLst>
              <a:ext uri="{FF2B5EF4-FFF2-40B4-BE49-F238E27FC236}">
                <a16:creationId xmlns:a16="http://schemas.microsoft.com/office/drawing/2014/main" id="{1AE01A6D-6C1B-4103-8C92-5836A35DC2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4" name="Espace réservé de la date 3">
            <a:extLst>
              <a:ext uri="{FF2B5EF4-FFF2-40B4-BE49-F238E27FC236}">
                <a16:creationId xmlns:a16="http://schemas.microsoft.com/office/drawing/2014/main" id="{790FD363-39E3-40FA-BB7E-6B0FB8015F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DF60E8-FC04-4C13-B3C2-17ED68396B78}" type="datetimeFigureOut">
              <a:rPr lang="fr-MG" smtClean="0"/>
              <a:t>18/02/2024</a:t>
            </a:fld>
            <a:endParaRPr lang="fr-MG"/>
          </a:p>
        </p:txBody>
      </p:sp>
      <p:sp>
        <p:nvSpPr>
          <p:cNvPr id="5" name="Espace réservé du pied de page 4">
            <a:extLst>
              <a:ext uri="{FF2B5EF4-FFF2-40B4-BE49-F238E27FC236}">
                <a16:creationId xmlns:a16="http://schemas.microsoft.com/office/drawing/2014/main" id="{FC80AAF0-0F9F-4F1E-88BB-60065129C2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MG"/>
          </a:p>
        </p:txBody>
      </p:sp>
      <p:sp>
        <p:nvSpPr>
          <p:cNvPr id="6" name="Espace réservé du numéro de diapositive 5">
            <a:extLst>
              <a:ext uri="{FF2B5EF4-FFF2-40B4-BE49-F238E27FC236}">
                <a16:creationId xmlns:a16="http://schemas.microsoft.com/office/drawing/2014/main" id="{76777387-5922-4799-BE7B-4A466CE6C1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0FC8EC-6926-49E4-9C95-3F0BD34A6DDB}" type="slidenum">
              <a:rPr lang="fr-MG" smtClean="0"/>
              <a:t>‹N°›</a:t>
            </a:fld>
            <a:endParaRPr lang="fr-MG"/>
          </a:p>
        </p:txBody>
      </p:sp>
    </p:spTree>
    <p:extLst>
      <p:ext uri="{BB962C8B-B14F-4D97-AF65-F5344CB8AC3E}">
        <p14:creationId xmlns:p14="http://schemas.microsoft.com/office/powerpoint/2010/main" val="406047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M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83554734-8884-4B9B-82BE-6A2A06713477}"/>
              </a:ext>
            </a:extLst>
          </p:cNvPr>
          <p:cNvSpPr txBox="1"/>
          <p:nvPr/>
        </p:nvSpPr>
        <p:spPr>
          <a:xfrm>
            <a:off x="177916" y="68520"/>
            <a:ext cx="11845636" cy="6740307"/>
          </a:xfrm>
          <a:prstGeom prst="rect">
            <a:avLst/>
          </a:prstGeom>
          <a:noFill/>
        </p:spPr>
        <p:txBody>
          <a:bodyPr wrap="square" rtlCol="0">
            <a:spAutoFit/>
          </a:bodyPr>
          <a:lstStyle/>
          <a:p>
            <a:pPr algn="just"/>
            <a:r>
              <a:rPr lang="fr-FR" u="sng" dirty="0">
                <a:latin typeface="Times New Roman" panose="02020603050405020304" pitchFamily="18" charset="0"/>
                <a:cs typeface="Times New Roman" panose="02020603050405020304" pitchFamily="18" charset="0"/>
              </a:rPr>
              <a:t>Exercice 1</a:t>
            </a:r>
            <a:r>
              <a:rPr lang="fr-FR" dirty="0">
                <a:latin typeface="Times New Roman" panose="02020603050405020304" pitchFamily="18" charset="0"/>
                <a:cs typeface="Times New Roman" panose="02020603050405020304" pitchFamily="18" charset="0"/>
              </a:rPr>
              <a:t>. </a:t>
            </a:r>
          </a:p>
          <a:p>
            <a:pPr algn="just"/>
            <a:r>
              <a:rPr lang="fr-FR" b="1" dirty="0">
                <a:latin typeface="Times New Roman" panose="02020603050405020304" pitchFamily="18" charset="0"/>
                <a:cs typeface="Times New Roman" panose="02020603050405020304" pitchFamily="18" charset="0"/>
              </a:rPr>
              <a:t>Vision</a:t>
            </a:r>
            <a:r>
              <a:rPr lang="fr-FR" dirty="0">
                <a:latin typeface="Times New Roman" panose="02020603050405020304" pitchFamily="18" charset="0"/>
                <a:cs typeface="Times New Roman" panose="02020603050405020304" pitchFamily="18" charset="0"/>
              </a:rPr>
              <a:t>. Réalisez une application pour la </a:t>
            </a:r>
            <a:r>
              <a:rPr lang="fr-FR" b="1" dirty="0">
                <a:latin typeface="Times New Roman" panose="02020603050405020304" pitchFamily="18" charset="0"/>
                <a:cs typeface="Times New Roman" panose="02020603050405020304" pitchFamily="18" charset="0"/>
              </a:rPr>
              <a:t>gestion de l’emploi du temps</a:t>
            </a:r>
            <a:r>
              <a:rPr lang="fr-FR" dirty="0">
                <a:latin typeface="Times New Roman" panose="02020603050405020304" pitchFamily="18" charset="0"/>
                <a:cs typeface="Times New Roman" panose="02020603050405020304" pitchFamily="18" charset="0"/>
              </a:rPr>
              <a:t> d’un composant de l’UF (ENI). Cette application permet au Responsable de Mention de créer et modifier les emplois du temps de chaque enseignant et de chaque classe. Chaque étudiant et chaque enseignant recevront leur emploi du temps par mail. Ils seront notifiés aussi de chaque changement de l’emploi du temps. Les autres responsables (directeur, secrétaire principal,…) peuvent aussi consulter les emplois du temps de l’E.N.I.</a:t>
            </a:r>
          </a:p>
          <a:p>
            <a:pPr algn="just"/>
            <a:r>
              <a:rPr lang="fr-FR" dirty="0">
                <a:latin typeface="Times New Roman" panose="02020603050405020304" pitchFamily="18" charset="0"/>
                <a:cs typeface="Times New Roman" panose="02020603050405020304" pitchFamily="18" charset="0"/>
              </a:rPr>
              <a:t>Questions : </a:t>
            </a:r>
          </a:p>
          <a:p>
            <a:pPr algn="just"/>
            <a:r>
              <a:rPr lang="fr-FR" dirty="0">
                <a:latin typeface="Times New Roman" panose="02020603050405020304" pitchFamily="18" charset="0"/>
                <a:cs typeface="Times New Roman" panose="02020603050405020304" pitchFamily="18" charset="0"/>
              </a:rPr>
              <a:t>1.1. Développez les 5 étapes de l’élaboration du </a:t>
            </a:r>
            <a:r>
              <a:rPr lang="fr-FR" dirty="0" err="1">
                <a:latin typeface="Times New Roman" panose="02020603050405020304" pitchFamily="18" charset="0"/>
                <a:cs typeface="Times New Roman" panose="02020603050405020304" pitchFamily="18" charset="0"/>
              </a:rPr>
              <a:t>product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backlog</a:t>
            </a:r>
            <a:r>
              <a:rPr lang="fr-FR" dirty="0">
                <a:latin typeface="Times New Roman" panose="02020603050405020304" pitchFamily="18" charset="0"/>
                <a:cs typeface="Times New Roman" panose="02020603050405020304" pitchFamily="18" charset="0"/>
              </a:rPr>
              <a:t>.</a:t>
            </a:r>
          </a:p>
          <a:p>
            <a:pPr algn="just"/>
            <a:r>
              <a:rPr lang="fr-FR" dirty="0">
                <a:latin typeface="Times New Roman" panose="02020603050405020304" pitchFamily="18" charset="0"/>
                <a:cs typeface="Times New Roman" panose="02020603050405020304" pitchFamily="18" charset="0"/>
              </a:rPr>
              <a:t>1.2. Constituez le </a:t>
            </a:r>
            <a:r>
              <a:rPr lang="fr-FR" dirty="0" err="1">
                <a:latin typeface="Times New Roman" panose="02020603050405020304" pitchFamily="18" charset="0"/>
                <a:cs typeface="Times New Roman" panose="02020603050405020304" pitchFamily="18" charset="0"/>
              </a:rPr>
              <a:t>product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backlog</a:t>
            </a:r>
            <a:r>
              <a:rPr lang="fr-FR" dirty="0">
                <a:latin typeface="Times New Roman" panose="02020603050405020304" pitchFamily="18" charset="0"/>
                <a:cs typeface="Times New Roman" panose="02020603050405020304" pitchFamily="18" charset="0"/>
              </a:rPr>
              <a:t> : </a:t>
            </a:r>
            <a:r>
              <a:rPr lang="fr-FR" sz="1800" b="1" dirty="0" err="1">
                <a:effectLst/>
                <a:latin typeface="Times New Roman" panose="02020603050405020304" pitchFamily="18" charset="0"/>
                <a:ea typeface="Times New Roman" panose="02020603050405020304" pitchFamily="18" charset="0"/>
                <a:cs typeface="Times New Roman" panose="02020603050405020304" pitchFamily="18" charset="0"/>
              </a:rPr>
              <a:t>ID_item</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titre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importance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estimation</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et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démonstration</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de la fonctionnalité.</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1.3. Elaborez le sprint </a:t>
            </a:r>
            <a:r>
              <a:rPr lang="fr-FR" dirty="0" err="1">
                <a:latin typeface="Times New Roman" panose="02020603050405020304" pitchFamily="18" charset="0"/>
                <a:cs typeface="Times New Roman" panose="02020603050405020304" pitchFamily="18" charset="0"/>
              </a:rPr>
              <a:t>backlog</a:t>
            </a:r>
            <a:r>
              <a:rPr lang="fr-FR" dirty="0">
                <a:latin typeface="Times New Roman" panose="02020603050405020304" pitchFamily="18" charset="0"/>
                <a:cs typeface="Times New Roman" panose="02020603050405020304" pitchFamily="18" charset="0"/>
              </a:rPr>
              <a:t> : release détaillé en sprints, sprints détaillé en release.</a:t>
            </a:r>
            <a:endParaRPr lang="fr-FR" u="sng" dirty="0">
              <a:latin typeface="Times New Roman" panose="02020603050405020304" pitchFamily="18" charset="0"/>
              <a:cs typeface="Times New Roman" panose="02020603050405020304" pitchFamily="18" charset="0"/>
            </a:endParaRPr>
          </a:p>
          <a:p>
            <a:endParaRPr lang="fr-FR" u="sng" dirty="0">
              <a:latin typeface="Times New Roman" panose="02020603050405020304" pitchFamily="18" charset="0"/>
              <a:cs typeface="Times New Roman" panose="02020603050405020304" pitchFamily="18" charset="0"/>
            </a:endParaRPr>
          </a:p>
          <a:p>
            <a:r>
              <a:rPr lang="fr-FR" u="sng" dirty="0">
                <a:latin typeface="Times New Roman" panose="02020603050405020304" pitchFamily="18" charset="0"/>
                <a:cs typeface="Times New Roman" panose="02020603050405020304" pitchFamily="18" charset="0"/>
              </a:rPr>
              <a:t>Exercice 2</a:t>
            </a:r>
            <a:r>
              <a:rPr lang="fr-FR" dirty="0">
                <a:latin typeface="Times New Roman" panose="02020603050405020304" pitchFamily="18" charset="0"/>
                <a:cs typeface="Times New Roman" panose="02020603050405020304" pitchFamily="18" charset="0"/>
              </a:rPr>
              <a:t>. </a:t>
            </a:r>
          </a:p>
          <a:p>
            <a:r>
              <a:rPr lang="fr-FR" dirty="0">
                <a:latin typeface="Times New Roman" panose="02020603050405020304" pitchFamily="18" charset="0"/>
                <a:cs typeface="Times New Roman" panose="02020603050405020304" pitchFamily="18" charset="0"/>
              </a:rPr>
              <a:t>Etude d’un système simplifié de </a:t>
            </a:r>
            <a:r>
              <a:rPr lang="fr-FR" b="1" dirty="0">
                <a:latin typeface="Times New Roman" panose="02020603050405020304" pitchFamily="18" charset="0"/>
                <a:cs typeface="Times New Roman" panose="02020603050405020304" pitchFamily="18" charset="0"/>
              </a:rPr>
              <a:t>réservation de vols</a:t>
            </a:r>
            <a:r>
              <a:rPr lang="fr-FR" dirty="0">
                <a:latin typeface="Times New Roman" panose="02020603050405020304" pitchFamily="18" charset="0"/>
                <a:cs typeface="Times New Roman" panose="02020603050405020304" pitchFamily="18" charset="0"/>
              </a:rPr>
              <a:t> pour une agence de voyages. Les interviews ont permis de résumer la connaissance du domaine sous-forme des phrases :</a:t>
            </a:r>
          </a:p>
          <a:p>
            <a:pPr marL="285750" indent="-285750">
              <a:buFontTx/>
              <a:buChar char="-"/>
            </a:pPr>
            <a:r>
              <a:rPr lang="fr-FR" dirty="0">
                <a:latin typeface="Times New Roman" panose="02020603050405020304" pitchFamily="18" charset="0"/>
                <a:cs typeface="Times New Roman" panose="02020603050405020304" pitchFamily="18" charset="0"/>
              </a:rPr>
              <a:t>des compagnies aériennes proposent plusieurs vols,</a:t>
            </a:r>
          </a:p>
          <a:p>
            <a:pPr marL="285750" indent="-285750">
              <a:buFontTx/>
              <a:buChar char="-"/>
            </a:pPr>
            <a:r>
              <a:rPr lang="fr-FR" dirty="0">
                <a:latin typeface="Times New Roman" panose="02020603050405020304" pitchFamily="18" charset="0"/>
                <a:cs typeface="Times New Roman" panose="02020603050405020304" pitchFamily="18" charset="0"/>
              </a:rPr>
              <a:t>Un vol est ouvert à la réservation et fermé sur ordre de la compagnie.</a:t>
            </a:r>
          </a:p>
          <a:p>
            <a:pPr marL="285750" indent="-285750">
              <a:buFontTx/>
              <a:buChar char="-"/>
            </a:pPr>
            <a:r>
              <a:rPr lang="fr-FR" dirty="0">
                <a:latin typeface="Times New Roman" panose="02020603050405020304" pitchFamily="18" charset="0"/>
                <a:cs typeface="Times New Roman" panose="02020603050405020304" pitchFamily="18" charset="0"/>
              </a:rPr>
              <a:t>Un client peut réserver un ou plusieurs vols, pour des passagers différents.</a:t>
            </a:r>
          </a:p>
          <a:p>
            <a:pPr marL="285750" indent="-285750">
              <a:buFontTx/>
              <a:buChar char="-"/>
            </a:pPr>
            <a:r>
              <a:rPr lang="fr-FR" dirty="0">
                <a:latin typeface="Times New Roman" panose="02020603050405020304" pitchFamily="18" charset="0"/>
                <a:cs typeface="Times New Roman" panose="02020603050405020304" pitchFamily="18" charset="0"/>
              </a:rPr>
              <a:t>Une réservation concerne un seul vol et un seul passager.</a:t>
            </a:r>
          </a:p>
          <a:p>
            <a:pPr marL="285750" indent="-285750">
              <a:buFontTx/>
              <a:buChar char="-"/>
            </a:pPr>
            <a:r>
              <a:rPr lang="fr-FR" dirty="0">
                <a:latin typeface="Times New Roman" panose="02020603050405020304" pitchFamily="18" charset="0"/>
                <a:cs typeface="Times New Roman" panose="02020603050405020304" pitchFamily="18" charset="0"/>
              </a:rPr>
              <a:t>Une réservation peut être annulée ou confirmée.</a:t>
            </a:r>
          </a:p>
          <a:p>
            <a:pPr marL="285750" indent="-285750">
              <a:buFontTx/>
              <a:buChar char="-"/>
            </a:pPr>
            <a:r>
              <a:rPr lang="fr-FR" dirty="0">
                <a:latin typeface="Times New Roman" panose="02020603050405020304" pitchFamily="18" charset="0"/>
                <a:cs typeface="Times New Roman" panose="02020603050405020304" pitchFamily="18" charset="0"/>
              </a:rPr>
              <a:t>Un vol a un aéroport de départ et un aéroport d’arrivée.</a:t>
            </a:r>
          </a:p>
          <a:p>
            <a:pPr marL="285750" indent="-285750">
              <a:buFontTx/>
              <a:buChar char="-"/>
            </a:pPr>
            <a:r>
              <a:rPr lang="fr-FR" dirty="0">
                <a:latin typeface="Times New Roman" panose="02020603050405020304" pitchFamily="18" charset="0"/>
                <a:cs typeface="Times New Roman" panose="02020603050405020304" pitchFamily="18" charset="0"/>
              </a:rPr>
              <a:t>Un vol a un jour et une heure de départ, et un jour et une heure d’arrivée.</a:t>
            </a:r>
          </a:p>
          <a:p>
            <a:pPr marL="285750" indent="-285750">
              <a:buFontTx/>
              <a:buChar char="-"/>
            </a:pPr>
            <a:r>
              <a:rPr lang="fr-FR" dirty="0">
                <a:latin typeface="Times New Roman" panose="02020603050405020304" pitchFamily="18" charset="0"/>
                <a:cs typeface="Times New Roman" panose="02020603050405020304" pitchFamily="18" charset="0"/>
              </a:rPr>
              <a:t>Un vol peut comporter des escales dans des aéroports.</a:t>
            </a:r>
          </a:p>
          <a:p>
            <a:pPr algn="just"/>
            <a:r>
              <a:rPr lang="fr-FR" dirty="0">
                <a:latin typeface="Times New Roman" panose="02020603050405020304" pitchFamily="18" charset="0"/>
                <a:cs typeface="Times New Roman" panose="02020603050405020304" pitchFamily="18" charset="0"/>
              </a:rPr>
              <a:t>Questions : </a:t>
            </a:r>
          </a:p>
          <a:p>
            <a:pPr algn="just"/>
            <a:r>
              <a:rPr lang="fr-FR" dirty="0">
                <a:latin typeface="Times New Roman" panose="02020603050405020304" pitchFamily="18" charset="0"/>
                <a:cs typeface="Times New Roman" panose="02020603050405020304" pitchFamily="18" charset="0"/>
              </a:rPr>
              <a:t>2.1. développez les 5 étapes de l’élaboration du </a:t>
            </a:r>
            <a:r>
              <a:rPr lang="fr-FR" dirty="0" err="1">
                <a:latin typeface="Times New Roman" panose="02020603050405020304" pitchFamily="18" charset="0"/>
                <a:cs typeface="Times New Roman" panose="02020603050405020304" pitchFamily="18" charset="0"/>
              </a:rPr>
              <a:t>product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backlog</a:t>
            </a:r>
            <a:r>
              <a:rPr lang="fr-FR"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76410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BF2CD8B-10BF-4425-8B75-50769EC74394}"/>
              </a:ext>
            </a:extLst>
          </p:cNvPr>
          <p:cNvSpPr txBox="1"/>
          <p:nvPr/>
        </p:nvSpPr>
        <p:spPr>
          <a:xfrm>
            <a:off x="183469" y="356752"/>
            <a:ext cx="11824047" cy="6186309"/>
          </a:xfrm>
          <a:prstGeom prst="rect">
            <a:avLst/>
          </a:prstGeom>
          <a:noFill/>
        </p:spPr>
        <p:txBody>
          <a:bodyPr wrap="square">
            <a:spAutoFit/>
          </a:bodyPr>
          <a:lstStyle/>
          <a:p>
            <a:pPr algn="just"/>
            <a:r>
              <a:rPr lang="fr-FR" dirty="0">
                <a:latin typeface="Times New Roman" panose="02020603050405020304" pitchFamily="18" charset="0"/>
                <a:cs typeface="Times New Roman" panose="02020603050405020304" pitchFamily="18" charset="0"/>
              </a:rPr>
              <a:t>2.2. Constituez le </a:t>
            </a:r>
            <a:r>
              <a:rPr lang="fr-FR" dirty="0" err="1">
                <a:latin typeface="Times New Roman" panose="02020603050405020304" pitchFamily="18" charset="0"/>
                <a:cs typeface="Times New Roman" panose="02020603050405020304" pitchFamily="18" charset="0"/>
              </a:rPr>
              <a:t>product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backlog</a:t>
            </a:r>
            <a:r>
              <a:rPr lang="fr-FR" dirty="0">
                <a:latin typeface="Times New Roman" panose="02020603050405020304" pitchFamily="18" charset="0"/>
                <a:cs typeface="Times New Roman" panose="02020603050405020304" pitchFamily="18" charset="0"/>
              </a:rPr>
              <a:t> : </a:t>
            </a:r>
            <a:r>
              <a:rPr lang="fr-FR" sz="1800" b="1" dirty="0" err="1">
                <a:effectLst/>
                <a:latin typeface="Times New Roman" panose="02020603050405020304" pitchFamily="18" charset="0"/>
                <a:ea typeface="Times New Roman" panose="02020603050405020304" pitchFamily="18" charset="0"/>
                <a:cs typeface="Times New Roman" panose="02020603050405020304" pitchFamily="18" charset="0"/>
              </a:rPr>
              <a:t>ID_item</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titre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importance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estimation</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et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démonstration</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de la fonctionnalité.</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2.3. Elaborez le sprint </a:t>
            </a:r>
            <a:r>
              <a:rPr lang="fr-FR" dirty="0" err="1">
                <a:latin typeface="Times New Roman" panose="02020603050405020304" pitchFamily="18" charset="0"/>
                <a:cs typeface="Times New Roman" panose="02020603050405020304" pitchFamily="18" charset="0"/>
              </a:rPr>
              <a:t>backlog</a:t>
            </a:r>
            <a:r>
              <a:rPr lang="fr-FR" dirty="0">
                <a:latin typeface="Times New Roman" panose="02020603050405020304" pitchFamily="18" charset="0"/>
                <a:cs typeface="Times New Roman" panose="02020603050405020304" pitchFamily="18" charset="0"/>
              </a:rPr>
              <a:t> : release et sprints, sprint et taches.</a:t>
            </a:r>
          </a:p>
          <a:p>
            <a:pPr algn="just"/>
            <a:endParaRPr lang="fr-FR" u="sng" dirty="0">
              <a:latin typeface="Times New Roman" panose="02020603050405020304" pitchFamily="18" charset="0"/>
              <a:cs typeface="Times New Roman" panose="02020603050405020304" pitchFamily="18" charset="0"/>
            </a:endParaRPr>
          </a:p>
          <a:p>
            <a:pPr algn="just"/>
            <a:r>
              <a:rPr lang="fr-FR" u="sng" dirty="0">
                <a:latin typeface="Times New Roman" panose="02020603050405020304" pitchFamily="18" charset="0"/>
                <a:cs typeface="Times New Roman" panose="02020603050405020304" pitchFamily="18" charset="0"/>
              </a:rPr>
              <a:t>Exercice3</a:t>
            </a:r>
            <a:r>
              <a:rPr lang="fr-FR" dirty="0">
                <a:latin typeface="Times New Roman" panose="02020603050405020304" pitchFamily="18" charset="0"/>
                <a:cs typeface="Times New Roman" panose="02020603050405020304" pitchFamily="18" charset="0"/>
              </a:rPr>
              <a:t>. </a:t>
            </a: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Le projet GRHAD (Gestion des Ressources Humaines Assistée par Ordinateur) contient des modules : absence, administration, cantine, paie, pointage, profil et rattachement. Nous allons mettre en place le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module cantine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Il est accessible à tous les salariés de l’entreprise. Il est utilisé fréquemment par les administrateurs des ressources humaines (ARH) ou le reste du personnel. Pendant l’analyse préalable, on a recensé les besoins suivants :</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Gérer les menus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Choisir leur menu de la semaine suivante</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Visualiser leur choix de menu de la semaine en cours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Être notifié de la disponibilité des menus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Visualiser les statistiques des choix des menus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Gérer les sondages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Effectuer les sondages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Visualiser les résultats des sondages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Gérer les droits des utilisateurs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Gérer les prestataires </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Le système permettra à :</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-l’administrateur d’avoir une interface simple pour la gestion des prestataires et l’administration des droits des utilisateurs.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ARH d’avoir une interface d’affichage des résultats des sondages.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accesseurs de visualiser les menus et les choix des menus.   </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253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358B7B2-0496-E890-6980-941C9B2407E1}"/>
              </a:ext>
            </a:extLst>
          </p:cNvPr>
          <p:cNvSpPr txBox="1"/>
          <p:nvPr/>
        </p:nvSpPr>
        <p:spPr>
          <a:xfrm>
            <a:off x="168442" y="307541"/>
            <a:ext cx="11766884" cy="3416320"/>
          </a:xfrm>
          <a:prstGeom prst="rect">
            <a:avLst/>
          </a:prstGeom>
          <a:noFill/>
        </p:spPr>
        <p:txBody>
          <a:bodyPr wrap="square">
            <a:spAutoFit/>
          </a:bodyPr>
          <a:lstStyle/>
          <a:p>
            <a:pPr algn="just"/>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Pour ce faire :</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fr-FR"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ea typeface="Times New Roman" panose="02020603050405020304" pitchFamily="18" charset="0"/>
                <a:cs typeface="Times New Roman" panose="02020603050405020304" pitchFamily="18" charset="0"/>
              </a:rPr>
              <a:t>3.1.</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Développez les 5 étapes pour l’élaboration du </a:t>
            </a:r>
            <a:r>
              <a:rPr lang="fr-FR" sz="1800" dirty="0" err="1">
                <a:effectLst/>
                <a:latin typeface="Times New Roman" panose="02020603050405020304" pitchFamily="18" charset="0"/>
                <a:ea typeface="Times New Roman" panose="02020603050405020304" pitchFamily="18" charset="0"/>
                <a:cs typeface="Times New Roman" panose="02020603050405020304" pitchFamily="18" charset="0"/>
              </a:rPr>
              <a:t>product</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dirty="0" err="1">
                <a:effectLst/>
                <a:latin typeface="Times New Roman" panose="02020603050405020304" pitchFamily="18" charset="0"/>
                <a:ea typeface="Times New Roman" panose="02020603050405020304" pitchFamily="18" charset="0"/>
                <a:cs typeface="Times New Roman" panose="02020603050405020304" pitchFamily="18" charset="0"/>
              </a:rPr>
              <a:t>backlog</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 établir la vision du produit, lister les acteurs en précisant seulement (rôle et description), les thèmes, la release initiale et les </a:t>
            </a:r>
            <a:r>
              <a:rPr lang="fr-FR" sz="1800" dirty="0" err="1">
                <a:effectLst/>
                <a:latin typeface="Times New Roman" panose="02020603050405020304" pitchFamily="18" charset="0"/>
                <a:ea typeface="Times New Roman" panose="02020603050405020304" pitchFamily="18" charset="0"/>
                <a:cs typeface="Times New Roman" panose="02020603050405020304" pitchFamily="18" charset="0"/>
              </a:rPr>
              <a:t>users</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stories.</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fr-FR"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ea typeface="Times New Roman" panose="02020603050405020304" pitchFamily="18" charset="0"/>
                <a:cs typeface="Times New Roman" panose="02020603050405020304" pitchFamily="18" charset="0"/>
              </a:rPr>
              <a:t>3.2. </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Dessinez le tableau du </a:t>
            </a:r>
            <a:r>
              <a:rPr lang="fr-FR" sz="1800" dirty="0" err="1">
                <a:effectLst/>
                <a:latin typeface="Times New Roman" panose="02020603050405020304" pitchFamily="18" charset="0"/>
                <a:ea typeface="Times New Roman" panose="02020603050405020304" pitchFamily="18" charset="0"/>
                <a:cs typeface="Times New Roman" panose="02020603050405020304" pitchFamily="18" charset="0"/>
              </a:rPr>
              <a:t>product</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dirty="0" err="1">
                <a:effectLst/>
                <a:latin typeface="Times New Roman" panose="02020603050405020304" pitchFamily="18" charset="0"/>
                <a:ea typeface="Times New Roman" panose="02020603050405020304" pitchFamily="18" charset="0"/>
                <a:cs typeface="Times New Roman" panose="02020603050405020304" pitchFamily="18" charset="0"/>
              </a:rPr>
              <a:t>backlog</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fr-FR" sz="1800" b="1" dirty="0" err="1">
                <a:effectLst/>
                <a:latin typeface="Times New Roman" panose="02020603050405020304" pitchFamily="18" charset="0"/>
                <a:ea typeface="Times New Roman" panose="02020603050405020304" pitchFamily="18" charset="0"/>
                <a:cs typeface="Times New Roman" panose="02020603050405020304" pitchFamily="18" charset="0"/>
              </a:rPr>
              <a:t>ID_item</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titre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importance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estimation</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et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démonstration</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de la fonctionnalité.</a:t>
            </a:r>
            <a:endParaRPr lang="fr-FR"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fr-FR"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ea typeface="Times New Roman" panose="02020603050405020304" pitchFamily="18" charset="0"/>
                <a:cs typeface="Times New Roman" panose="02020603050405020304" pitchFamily="18" charset="0"/>
              </a:rPr>
              <a:t>3.3. </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Présentez le travail à faire :</a:t>
            </a:r>
            <a:endParaRPr lang="fr-FR"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ea typeface="Times New Roman" panose="02020603050405020304" pitchFamily="18" charset="0"/>
                <a:cs typeface="Times New Roman" panose="02020603050405020304" pitchFamily="18" charset="0"/>
              </a:rPr>
              <a:t>3.3.1. </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A partir du </a:t>
            </a:r>
            <a:r>
              <a:rPr lang="fr-FR" sz="1800" b="1" dirty="0" err="1">
                <a:effectLst/>
                <a:latin typeface="Times New Roman" panose="02020603050405020304" pitchFamily="18" charset="0"/>
                <a:ea typeface="Times New Roman" panose="02020603050405020304" pitchFamily="18" charset="0"/>
                <a:cs typeface="Times New Roman" panose="02020603050405020304" pitchFamily="18" charset="0"/>
              </a:rPr>
              <a:t>product</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err="1">
                <a:effectLst/>
                <a:latin typeface="Times New Roman" panose="02020603050405020304" pitchFamily="18" charset="0"/>
                <a:ea typeface="Times New Roman" panose="02020603050405020304" pitchFamily="18" charset="0"/>
                <a:cs typeface="Times New Roman" panose="02020603050405020304" pitchFamily="18" charset="0"/>
              </a:rPr>
              <a:t>backlog</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regroupez les fonctionnalités afin de dégager les sprints et les releases du projet dans un tableau à 4 colonnes : </a:t>
            </a:r>
            <a:r>
              <a:rPr lang="fr-FR" sz="1800" b="1" dirty="0" err="1">
                <a:effectLst/>
                <a:latin typeface="Times New Roman" panose="02020603050405020304" pitchFamily="18" charset="0"/>
                <a:ea typeface="Times New Roman" panose="02020603050405020304" pitchFamily="18" charset="0"/>
                <a:cs typeface="Times New Roman" panose="02020603050405020304" pitchFamily="18" charset="0"/>
              </a:rPr>
              <a:t>ID_item</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numéro sprint</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titre du sprint</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et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estimation</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Et les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sprints</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sont regroupés dans chaque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release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écrite en ligne du tableau.</a:t>
            </a:r>
            <a:endParaRPr lang="fr-M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ea typeface="Times New Roman" panose="02020603050405020304" pitchFamily="18" charset="0"/>
                <a:cs typeface="Times New Roman" panose="02020603050405020304" pitchFamily="18" charset="0"/>
              </a:rPr>
              <a:t>3.3.2. </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Dessinez un tableau détaillant les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tâches</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dans chaque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sprint</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numéro du sprint</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tâches</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estimation</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340339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655</Words>
  <Application>Microsoft Office PowerPoint</Application>
  <PresentationFormat>Grand écran</PresentationFormat>
  <Paragraphs>47</Paragraphs>
  <Slides>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vt:i4>
      </vt:variant>
    </vt:vector>
  </HeadingPairs>
  <TitlesOfParts>
    <vt:vector size="8" baseType="lpstr">
      <vt:lpstr>Arial</vt:lpstr>
      <vt:lpstr>Calibri</vt:lpstr>
      <vt:lpstr>Calibri Light</vt:lpstr>
      <vt:lpstr>Times New Roman</vt:lpstr>
      <vt:lpstr>Thème Office</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Cyprien</dc:creator>
  <cp:lastModifiedBy>Cyprien</cp:lastModifiedBy>
  <cp:revision>14</cp:revision>
  <dcterms:created xsi:type="dcterms:W3CDTF">2022-02-23T07:13:02Z</dcterms:created>
  <dcterms:modified xsi:type="dcterms:W3CDTF">2024-02-18T13:40:57Z</dcterms:modified>
</cp:coreProperties>
</file>